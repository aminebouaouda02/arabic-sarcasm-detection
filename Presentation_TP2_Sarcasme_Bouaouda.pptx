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310896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6B6D4"/>
                </a:solidFill>
              </a:defRPr>
            </a:pPr>
            <a:r>
              <a:t>MODULE : TRANSFORMERS &amp;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Détection du Sarcasme en Arabe</a:t>
            </a:r>
          </a:p>
          <a:p>
            <a:pPr>
              <a:spcBef>
                <a:spcPts val="800"/>
              </a:spcBef>
              <a:defRPr sz="2000">
                <a:solidFill>
                  <a:srgbClr val="06B6D4"/>
                </a:solidFill>
              </a:defRPr>
            </a:pPr>
            <a:r>
              <a:t>Benchmark Empirique, Modèles Gelés &amp; Fine-Tuning sur ArSarcasm-v2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99669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👨‍💻 Étudiant : Amine Bouaouda     |     ⚙️ Environnement : PyTorch 2.1 (FP16 AMP) sur NVIDIA RTX 2050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🏆 Modèle Champion : UBC-NLP/MARBERTv2 Fine-Tuned (F1-Sarcasme = 0.6535, PR-AUC = 0.6480)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CONTEXTE &amp; ENJEUX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Le Problème : Complexité Pragmatisme &amp; Diglossie Arabe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1. Ambiguïté Pragmatique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</a:defRPr>
            </a:pPr>
            <a:r>
              <a:t>Le sarcasme repose sur une inversion de polarité : le texte semble positif ou neutre mais exprime une critique acérée.</a:t>
            </a:r>
            <a:br/>
            <a:br/>
            <a:r>
              <a:t>Sans contexte extra-linguistique ou marqueurs fins (emojis, allongements), les sacs de mots échouent.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10972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</a:defRPr>
            </a:pPr>
            <a:r>
              <a:t>2. Diglossie &amp; Variantes Dialectales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</a:defRPr>
            </a:pPr>
            <a:r>
              <a:t>L'arabe des réseaux sociaux mêle arabe standard moderne (MSA) et dialectes régionaux (Égyptien, Golfe, Levant, Maghreb).</a:t>
            </a:r>
            <a:br/>
            <a:br/>
            <a:r>
              <a:t>Les expressions sarcastiques, rires (هههه) et tournures idiomatiques varient drastiquement d'un pays à l'autre.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1097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3. Déséquilibre Sévère des Classes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</a:defRPr>
            </a:pPr>
            <a:r>
              <a:t>Le sarcasme est minoritaire (~17% du corpus).</a:t>
            </a:r>
            <a:br/>
            <a:br/>
            <a:r>
              <a:t>Un modèle naïf 'toujours non-sarcastique' affiche 82.7% d'accuracy sans rien détecter. Le F1-Score sur la classe sarcastique et le PR-AUC sont indispensables.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PARTIE A -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Corpus ArSarcasm-v2 : Le Piège du Prior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Audit de Distribution &amp; Décalage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Volume Total : 12 548 tweets en train officiel (stratifié en Train 11 293 / Val 1 255) et 3 000 en Test officiel.</a:t>
            </a:r>
            <a:br/>
            <a:br/>
            <a:r>
              <a:t>• Le Décalage Majeur (+10.1 pp) :</a:t>
            </a:r>
            <a:br/>
            <a:r>
              <a:t>   - Train / Val : 17.28% de tweets sarcastiques.</a:t>
            </a:r>
            <a:br/>
            <a:r>
              <a:t>   - Test Officiel : 27.37% de tweets sarcastiques !</a:t>
            </a:r>
            <a:br/>
            <a:br/>
            <a:r>
              <a:t>• Conséquence Cruciale :</a:t>
            </a:r>
            <a:br/>
            <a:r>
              <a:t>Un seuil de décision optimisé à 0.50 sur la validation devient sous-optimal sur le test et génère trop de faux négatifs.</a:t>
            </a:r>
            <a:br/>
            <a:br/>
            <a:r>
              <a:t>• Hétérogénéité Dialectale :</a:t>
            </a:r>
            <a:br/>
            <a:r>
              <a:t>Le dialecte égyptien et levantin présentent les taux de sarcasme les plus élevés (~35-40%). Le Maghreb est quasiment absent (38 tweets).</a:t>
            </a:r>
          </a:p>
        </p:txBody>
      </p:sp>
      <p:pic>
        <p:nvPicPr>
          <p:cNvPr id="7" name="Picture 6" descr="chart_prior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22885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PARTIE A - RACCOURCIS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Audit des Raccourcis : Les Biais Cachés du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Guillemets initiaux (")   |   Fréq Train : 60.9%   |   Fréq Test : 0.8%   |   Corrélation : -0.157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Artefact d'export CSV présent massivement dans le train mais disparu du test. Danger de sur-apprentissage.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Présence d'URL (http)   |   Fréq Train : 38.3%   |   Fréq Test : 14.7%   |   Corrélation : -0.219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Forte anti-corrélation avec le sarcasme. La règle naïve 'Pas d'URL -&gt; Sarcastique' atteint F1 = 0.476 sans NLP 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Présence de Mentions (@)   |   Fréq Train : 23.5%   |   Fréq Test : 0.8%   |   Corrélation : -0.004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Artefact de nettoyage Twitter non reproductible en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Retweet (RT)   |   Fréq Train : 11.4%   |   Fréq Test : 0.0%   |   Corrélation : -0.009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Supprimé du jeu de test officiel.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PARTIE A &amp;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Baselines : TF-IDF Lexical vs Zero-Shot NLI (mDeBERTa)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Modèles Lexicaux Classiques (Partie A)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TF-IDF Mots (1-2 grammes) : F1 = 0.4755 | PR-AUC = 0.4481</a:t>
            </a:r>
            <a:br/>
            <a:r>
              <a:t>   Pondération class_weight='balanced' indispensable pour compenser le déséquilibre.</a:t>
            </a:r>
            <a:br/>
            <a:br/>
            <a:r>
              <a:t>• TF-IDF Caractères (2-5 grammes) : F1 = 0.5361 | PR-AUC = 0.5161</a:t>
            </a:r>
            <a:br/>
            <a:r>
              <a:t>   Gain majeur (+6.1 pts F1) ! Les n-grammes de caractères capturent nativement les allongements expressifs (هههههه, كتيييير) et les emojis.</a:t>
            </a:r>
            <a:br/>
            <a:br/>
            <a:r>
              <a:t>• Ablation des indices : F1 chute à 0.4653 si on retire la ponctuation et les emojis.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</a:defRPr>
            </a:pPr>
            <a:r>
              <a:t>Zero-Shot NLI &amp; Sentiment (Partie B)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Modèle NLI : mDeBERTa-v3-base-xnli (Transfert sans entraînement)</a:t>
            </a:r>
            <a:br/>
            <a:r>
              <a:t>   - Hypothèse FR ('Ce tweet est sarcastique') : F1 = 0.4110 (seuil 0.85)</a:t>
            </a:r>
            <a:br/>
            <a:r>
              <a:t>   - Hypothèse EN ('This tweet is sarcastic') : F1 = 0.3980 (seuil 0.85)</a:t>
            </a:r>
            <a:br/>
            <a:r>
              <a:t>   - Hypothèse AR ('هذه التغريدة ساخرة') : F1 = 0.3762 (seuil 0.55)</a:t>
            </a:r>
            <a:br/>
            <a:br/>
            <a:r>
              <a:t>• Heuristique Sentiment CAMeL-Lab : F1 = 0.4700 (Rappel = 0.78)</a:t>
            </a:r>
            <a:br/>
            <a:r>
              <a:t>   Confirme la co-localisation : 42% des tweets négatifs sont sarcastiques.</a:t>
            </a:r>
            <a:br/>
            <a:br/>
            <a:r>
              <a:t>• Bilan : Le zero-shot fonctionne grâce à l'espace sémantique multilingue mais reste inférieur au TF-IDF caractères supervisé.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PARTIE D -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PLM Gelé (Partie D1) : AraBERT [CLS] contre Moyenne Masquée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47548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AraBERT Gelé [CLS] + LR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F1-Score : 0.5872   |   PR-AUC : 0.5545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Extraction du premier token uniquement. Moins expressif car les marqueurs sarcastiques se trouvent souvent au milieu ou à la fin du tweet (chute de la phrase ironique).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47548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AraBERT Gelé (Moyenne Masquée) + LR</a:t>
            </a:r>
          </a:p>
          <a:p>
            <a:pPr>
              <a:spcBef>
                <a:spcPts val="800"/>
              </a:spcBef>
              <a:defRPr sz="1300" b="1">
                <a:solidFill>
                  <a:srgbClr val="10B981"/>
                </a:solidFill>
              </a:defRPr>
            </a:pPr>
            <a:r>
              <a:t>F1-Score : 0.6180   |   PR-AUC : 0.6264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Pondération par le masque d'attention sur tous les tokens réels.</a:t>
            </a:r>
            <a:br/>
            <a:r>
              <a:t>Gain spectaculaire de +3.1 points F1 et +7.2 points de PR-AUC sans modifier un seul poids du modèle BERT 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120640"/>
            <a:ext cx="996696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2120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💡 Pourquoi la Moyenne Masquée triomphe ?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Dans un modèle gelé, le vecteur [CLS] n'a pas été affiné pour condenser le sarcasme. La moyenne masquée préserve le signal sémantique distribué (emojis finaux, ponctuations répétées, adjectifs dialectaux) qui alimente la régression logistique.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INTERPRÉTABILITÉ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Visualisation de l'Attention (Partie D2) : Ce que regarde le Modèle</a:t>
            </a:r>
          </a:p>
        </p:txBody>
      </p:sp>
      <p:pic>
        <p:nvPicPr>
          <p:cNvPr id="5" name="Picture 4" descr="attention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78639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554480"/>
            <a:ext cx="42976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73736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Décryptage des Poids d'Attention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La couche d'attention du classifieur BiLSTM (sur états gelés) isole précisément les marqueurs clés :</a:t>
            </a:r>
            <a:br/>
            <a:br/>
            <a:r>
              <a:t>1. Les Mots de Négation &amp; Amplificateurs :</a:t>
            </a:r>
            <a:br/>
            <a:r>
              <a:t>Les tokens d'accentuation reçoivent des pics d'attention nets (&gt; 0.25).</a:t>
            </a:r>
            <a:br/>
            <a:br/>
            <a:r>
              <a:t>2. Les Termes Politiques &amp; Entités Nommées :</a:t>
            </a:r>
            <a:br/>
            <a:r>
              <a:t>Forte focalisation sur les noms de personnalités publiques sujettes à l'ironie journalistique.</a:t>
            </a:r>
            <a:br/>
            <a:br/>
            <a:r>
              <a:t>3. Les Allongements &amp; Emojis :</a:t>
            </a:r>
            <a:br/>
            <a:r>
              <a:t>L'attention met en lumière les fragments de rires ou d'étonnement souvent placés en fin de tweet.</a:t>
            </a:r>
            <a:br/>
            <a:br/>
            <a:r>
              <a:t>Conclusion :</a:t>
            </a:r>
            <a:br/>
            <a:r>
              <a:t>Le modèle ne traite pas le texte uniformément : il aligne sa décision sur les disparités sémantiques caractéristiques du sarcasme.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PARTIE E -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Fine-Tuning Complet (Partie E1) : Le Choc AraBERT vs MARBERTv2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aubmindlab/bert-base-arabertv02-twitter</a:t>
            </a:r>
          </a:p>
          <a:p>
            <a:pPr>
              <a:spcBef>
                <a:spcPts val="600"/>
              </a:spcBef>
              <a:defRPr sz="1300" b="1">
                <a:solidFill>
                  <a:srgbClr val="2563EB"/>
                </a:solidFill>
              </a:defRPr>
            </a:pPr>
            <a:r>
              <a:t>F1-Score : 0.6417   |   PR-AUC : 0.6794</a:t>
            </a:r>
          </a:p>
          <a:p>
            <a:pPr>
              <a:spcBef>
                <a:spcPts val="1000"/>
              </a:spcBef>
              <a:defRPr sz="1080">
                <a:solidFill>
                  <a:srgbClr val="0F172A"/>
                </a:solidFill>
              </a:defRPr>
            </a:pPr>
            <a:r>
              <a:t>• Spécialisé sur les tweets arabes avec un pré-traitement morphologique dédié.</a:t>
            </a:r>
            <a:br/>
            <a:r>
              <a:t>• Obtenu au seuil optimal de 0.20 (pour capter agressivement les positifs rares).</a:t>
            </a:r>
            <a:br/>
            <a:r>
              <a:t>• Excellent PR-AUC (0.6794), le plus élevé du benchmark sur la distribution de précision/rappel.</a:t>
            </a:r>
            <a:br/>
            <a:r>
              <a:t>• Très fort sur MSA et dialecte levantin.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🏆 UBC-NLP/MARBERTv2 (CHAMPION DU TP)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F1-Score : 0.6535   |   Macro-F1 : 0.7812</a:t>
            </a:r>
          </a:p>
          <a:p>
            <a:pPr>
              <a:spcBef>
                <a:spcPts val="1000"/>
              </a:spcBef>
              <a:defRPr sz="1080">
                <a:solidFill>
                  <a:srgbClr val="0F172A"/>
                </a:solidFill>
              </a:defRPr>
            </a:pPr>
            <a:r>
              <a:t>• Pré-entraîné sur 1 Milliard de tweets arabes dialectaux variés (UBC-NLP).</a:t>
            </a:r>
            <a:br/>
            <a:r>
              <a:t>• Seuil optimal : 0.30.</a:t>
            </a:r>
            <a:br/>
            <a:r>
              <a:t>• Meilleur compromis Précision/Rappel : bat AraBERT de +1.2 pt et le modèle gelé de +3.5 pts !</a:t>
            </a:r>
            <a:br/>
            <a:r>
              <a:t>• Sa couverture dialectale massive (Égypte, Golfe, Maghreb) fait la différence sur les tweets informels du corpus.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PARTIE E - MULTI-TASK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Apprentissage Multi-Tâche : Sarcasme + Sentiment (Partie E2)</a:t>
            </a:r>
          </a:p>
        </p:txBody>
      </p:sp>
      <p:pic>
        <p:nvPicPr>
          <p:cNvPr id="5" name="Picture 4" descr="chart_multitask_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9459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</a:defRPr>
            </a:pPr>
            <a:r>
              <a:t>Architecture &amp; Impact de Lambda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Principe : L'encodeur AraBERT est partagé entre 2 têtes de classification :</a:t>
            </a:r>
            <a:br/>
            <a:r>
              <a:t>   L = L_sarcasme + lambda * L_sentiment</a:t>
            </a:r>
            <a:br/>
            <a:br/>
            <a:r>
              <a:t>• Résultats Expérimentaux (Validation) :</a:t>
            </a:r>
            <a:br/>
            <a:r>
              <a:t>   - lambda = 0.3 : F1 = 0.5241 | PR-AUC = 0.5162</a:t>
            </a:r>
            <a:br/>
            <a:r>
              <a:t>   - lambda = 0.5 : F1 = 0.5638 | PR-AUC = 0.5833 (OPTIMUM)</a:t>
            </a:r>
            <a:br/>
            <a:r>
              <a:t>   - lambda = 1.0 : F1 = 0.5455 | PR-AUC = 0.5259</a:t>
            </a:r>
            <a:br/>
            <a:br/>
            <a:r>
              <a:t>• Analyse du Transfert Négatif :</a:t>
            </a:r>
            <a:br/>
            <a:r>
              <a:t>À lambda = 0.5, la tâche plus facile (sentiment) stabilise les gradients et renforce la détection de négativité.</a:t>
            </a:r>
            <a:br/>
            <a:r>
              <a:t>À lambda = 1.0, la tâche sentiment cannibalise l'espace latent : les tweets neutres sarcastiques sont mal classés.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PARTIE F - GÉNÉRALISATION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Généralisation &amp; Épreuve du Feu sur le Test Officiel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Le Test Officiel (N=3000)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F1 = 0.5003</a:t>
            </a:r>
          </a:p>
          <a:p>
            <a:pPr>
              <a:spcBef>
                <a:spcPts val="1200"/>
              </a:spcBef>
              <a:defRPr sz="1050">
                <a:solidFill>
                  <a:srgbClr val="64748B"/>
                </a:solidFill>
              </a:defRPr>
            </a:pPr>
            <a:r>
              <a:t>Au seuil fixe de 0.50, le F1 chute de ~0.53 à 0.50 sur le test officiel.</a:t>
            </a:r>
            <a:br/>
            <a:br/>
            <a:r>
              <a:t>Cause directe : Le prior shift (+10.1 pp de sarcasme). Pour restaurer les performances, le seuil de décision opérationnel doit être abaissé vers 0.30 - 0.35.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Audit Dialectal Maghreb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38 tweets train / 2 test</a:t>
            </a:r>
          </a:p>
          <a:p>
            <a:pPr>
              <a:spcBef>
                <a:spcPts val="1200"/>
              </a:spcBef>
              <a:defRPr sz="1050">
                <a:solidFill>
                  <a:srgbClr val="64748B"/>
                </a:solidFill>
              </a:defRPr>
            </a:pPr>
            <a:r>
              <a:t>Le dialecte maghrébin (Darija) représente seulement 0.3% du corpus.</a:t>
            </a:r>
            <a:br/>
            <a:br/>
            <a:r>
              <a:t>Impossible de certifier la fiabilité du modèle sur le Maghreb sans collecter un jeu de données Darija dédié (DarijaBERT).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Analyse d'Erreurs (F6)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35% Hors-Contexte</a:t>
            </a:r>
          </a:p>
          <a:p>
            <a:pPr>
              <a:spcBef>
                <a:spcPts val="1200"/>
              </a:spcBef>
              <a:defRPr sz="1050">
                <a:solidFill>
                  <a:srgbClr val="64748B"/>
                </a:solidFill>
              </a:defRPr>
            </a:pPr>
            <a:r>
              <a:t>L'audit des 30 erreurs montre que 35% des faux négatifs sont dus au manque de connaissances du monde réel (actualité politique ou sportive non explicite dans le texte).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SYNTHÈSE GLOBALE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Benchmark Final des 21 Modèles Expérimentés</a:t>
            </a:r>
          </a:p>
        </p:txBody>
      </p:sp>
      <p:pic>
        <p:nvPicPr>
          <p:cNvPr id="5" name="Picture 4" descr="chart_mode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498079" cy="4089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554480"/>
            <a:ext cx="2926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73736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Points Clés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🥇 1er : MARBERTv2 (0.6535)</a:t>
            </a:r>
            <a:br/>
            <a:r>
              <a:t>Domine l'ensemble des métriques grâce à son vocabulaire dialectal riche.</a:t>
            </a:r>
            <a:br/>
            <a:br/>
            <a:r>
              <a:t>🥈 2e : AraBERT FT (0.6417)</a:t>
            </a:r>
            <a:br/>
            <a:r>
              <a:t>Meilleur PR-AUC global (0.6794).</a:t>
            </a:r>
            <a:br/>
            <a:br/>
            <a:r>
              <a:t>🥉 3e : AraBERT Gelé (0.6180)</a:t>
            </a:r>
            <a:br/>
            <a:r>
              <a:t>Moyenne masquée : le meilleur ratio performance / coût CPU !</a:t>
            </a:r>
            <a:br/>
            <a:br/>
            <a:r>
              <a:t>📊 Baseline Chars (0.5361)</a:t>
            </a:r>
            <a:br/>
            <a:r>
              <a:t>Les n-grammes caractères restent très honorables face aux transformers.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Décision de Déploiement &amp; Recommandations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Choix du Modèle pour la Production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🏆 Modèle Sélectionné : UBC-NLP/MARBERTv2 Fine-Tuned</a:t>
            </a:r>
            <a:br/>
            <a:br/>
            <a:r>
              <a:t>• Justification Opérationnelle :</a:t>
            </a:r>
            <a:br/>
            <a:r>
              <a:t>  - F1-Score maximal : 0.6535 (+11.7 pts vs baseline TF-IDF).</a:t>
            </a:r>
            <a:br/>
            <a:r>
              <a:t>  - Couverture dialectale supérieure sur les tweets informels.</a:t>
            </a:r>
            <a:br/>
            <a:r>
              <a:t>  - Macro-F1 de 0.7812 garantissant un bon équilibre sur les deux classes.</a:t>
            </a:r>
            <a:br/>
            <a:br/>
            <a:r>
              <a:t>• Solution Alternative 'Low-Cost' :</a:t>
            </a:r>
            <a:br/>
            <a:r>
              <a:t>Si l'infrastructure n'a pas de GPU disponible en inférence :</a:t>
            </a:r>
            <a:br/>
            <a:r>
              <a:t>AraBERT Gelé (Moyenne masquée) + Régression Logistique offre F1 = 0.6180 avec seulement 200 ms de latence CPU 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Checklist de Déploiement en Production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1. Recalibration Dynamique du Seuil :</a:t>
            </a:r>
            <a:br/>
            <a:r>
              <a:t>Le prior shift impose d'abandonner le seuil fixe 0.50 en faveur d'un seuil dynamique calibré (0.30 - 0.35) via Platt Scaling.</a:t>
            </a:r>
            <a:br/>
            <a:br/>
            <a:r>
              <a:t>2. Détection du Drift de Prior :</a:t>
            </a:r>
            <a:br/>
            <a:r>
              <a:t>Mettre en place un monitoring hebdomadaire du taux de sarcasme prédit (alerte si dérive &gt; 5 pp).</a:t>
            </a:r>
            <a:br/>
            <a:br/>
            <a:r>
              <a:t>3. Adaptation Dialectale Darija (Maghreb) :</a:t>
            </a:r>
            <a:br/>
            <a:r>
              <a:t>Entraîner un adaptateur LoRA ou utiliser DarijaBERT pour combler le déficit de données maghrébines.</a:t>
            </a:r>
            <a:br/>
            <a:br/>
            <a:r>
              <a:t>4. Nettoyage Robuste des Artefacts :</a:t>
            </a:r>
            <a:br/>
            <a:r>
              <a:t>Supprimer systématiquement les URLs et guillemets artificiels en amont.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